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85" r:id="rId6"/>
    <p:sldId id="286" r:id="rId7"/>
    <p:sldId id="279" r:id="rId8"/>
    <p:sldId id="275" r:id="rId9"/>
    <p:sldId id="280" r:id="rId10"/>
    <p:sldId id="276" r:id="rId11"/>
    <p:sldId id="289" r:id="rId12"/>
    <p:sldId id="277" r:id="rId13"/>
    <p:sldId id="278" r:id="rId14"/>
    <p:sldId id="287" r:id="rId15"/>
    <p:sldId id="290" r:id="rId16"/>
    <p:sldId id="291" r:id="rId17"/>
    <p:sldId id="283" r:id="rId18"/>
    <p:sldId id="284" r:id="rId19"/>
    <p:sldId id="281" r:id="rId20"/>
    <p:sldId id="288" r:id="rId21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86" autoAdjust="0"/>
    <p:restoredTop sz="96288"/>
  </p:normalViewPr>
  <p:slideViewPr>
    <p:cSldViewPr snapToGrid="0" snapToObjects="1" showGuides="1">
      <p:cViewPr varScale="1">
        <p:scale>
          <a:sx n="161" d="100"/>
          <a:sy n="161" d="100"/>
        </p:scale>
        <p:origin x="1020" y="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206444183848973E-2"/>
          <c:y val="2.5224786213845555E-2"/>
          <c:w val="0.9168433983226576"/>
          <c:h val="0.806335154209832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F5-084B-9211-911E43467D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F5-084B-9211-911E43467D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F5-084B-9211-911E43467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3874399"/>
        <c:axId val="1932068463"/>
      </c:barChart>
      <c:catAx>
        <c:axId val="1933874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fi-FI"/>
          </a:p>
        </c:txPr>
        <c:crossAx val="1932068463"/>
        <c:crosses val="autoZero"/>
        <c:auto val="1"/>
        <c:lblAlgn val="ctr"/>
        <c:lblOffset val="100"/>
        <c:noMultiLvlLbl val="0"/>
      </c:catAx>
      <c:valAx>
        <c:axId val="1932068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fi-FI"/>
          </a:p>
        </c:txPr>
        <c:crossAx val="1933874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672210873543228"/>
          <c:y val="0.92910021714117252"/>
          <c:w val="0.46655578252913543"/>
          <c:h val="7.08997828588274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5C365-1C26-6946-87AF-75D6A7DF427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FFFB7-F2A5-7347-AEB2-258A388E9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42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haagahelia.sharepoint.com/sites/HHkuvapankki/Shared%20Documents/Forms/AllItems.aspx?viewid=7deba41b-50a9-4c75-a5e7-25735f49b7cc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B628-BFED-FA4D-A06C-0525A98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773238"/>
            <a:ext cx="11125200" cy="1808941"/>
          </a:xfrm>
        </p:spPr>
        <p:txBody>
          <a:bodyPr bIns="0" anchor="b" anchorCtr="0">
            <a:normAutofit/>
          </a:bodyPr>
          <a:lstStyle>
            <a:lvl1pPr algn="l">
              <a:lnSpc>
                <a:spcPts val="55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B839A5-1182-6945-B986-217B82B3AC8A}"/>
              </a:ext>
            </a:extLst>
          </p:cNvPr>
          <p:cNvSpPr/>
          <p:nvPr userDrawn="1"/>
        </p:nvSpPr>
        <p:spPr>
          <a:xfrm>
            <a:off x="0" y="-204438"/>
            <a:ext cx="12192000" cy="7062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86A543E-9917-B841-9AEB-86C49D0B0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3955258"/>
            <a:ext cx="11125200" cy="581375"/>
          </a:xfrm>
        </p:spPr>
        <p:txBody>
          <a:bodyPr bIns="0" numCol="1" anchor="t" anchorCtr="0">
            <a:normAutofit/>
          </a:bodyPr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BE7B5-78F9-E34B-B1C6-AAE429BE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4551998"/>
            <a:ext cx="3030536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35B864B8-8D08-7B43-B4FB-B2FB41A5D9E3}" type="datetime1">
              <a:rPr lang="fi-FI" smtClean="0"/>
              <a:t>5.2.2026</a:t>
            </a:fld>
            <a:endParaRPr lang="en-GB" dirty="0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1C7B06C5-3A2A-724C-8BFB-C168F115C6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36397" y="4852367"/>
            <a:ext cx="4439666" cy="141795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38E54-5268-3B4D-A8E4-50D19254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0863" y="6288437"/>
            <a:ext cx="9223921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1ACF3-B1AE-4247-A41A-4A599C23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02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8"/>
            <a:ext cx="11125198" cy="4140200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CD7B-6966-E249-89F2-D46BDFBF56BE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557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1Column_Subheadline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B26B0A7-DD87-684D-A3EE-AEFC507F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18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95B0400-B942-424D-A30A-B748E6B48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768125"/>
            <a:ext cx="11125199" cy="581375"/>
          </a:xfrm>
        </p:spPr>
        <p:txBody>
          <a:bodyPr bIns="0" numCol="1" anchor="t" anchorCtr="0">
            <a:normAutofit/>
          </a:bodyPr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CC87E21-AFBF-8743-88CC-D9BE2CF2B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2353911"/>
            <a:ext cx="11125198" cy="3559527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CD7B-6966-E249-89F2-D46BDFBF56BE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60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omparison_Subheadline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14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68CF3-D9B4-FF41-BDA1-3F28E81C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68125"/>
            <a:ext cx="5365750" cy="581375"/>
          </a:xfrm>
        </p:spPr>
        <p:txBody>
          <a:bodyPr bIns="0" numCol="1" anchor="t" anchorCtr="0">
            <a:normAutofit/>
          </a:bodyPr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2353911"/>
            <a:ext cx="5365750" cy="3559527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077475C-7FF0-A24E-9A6A-5F7F5F34029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86645" y="1768125"/>
            <a:ext cx="5389417" cy="581375"/>
          </a:xfrm>
        </p:spPr>
        <p:txBody>
          <a:bodyPr bIns="0" numCol="1" anchor="t" anchorCtr="0">
            <a:normAutofit/>
          </a:bodyPr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51DBAD3-72AB-224A-860C-9CB2F35578E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86645" y="2353911"/>
            <a:ext cx="5389417" cy="3559527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FF3FE-30BE-2040-9151-6FBC4992BF4F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464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1Column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8"/>
            <a:ext cx="11125198" cy="4140200"/>
          </a:xfrm>
        </p:spPr>
        <p:txBody>
          <a:bodyPr numCol="1"/>
          <a:lstStyle>
            <a:lvl1pPr marL="360000" indent="-360000">
              <a:buFont typeface="+mj-lt"/>
              <a:buAutoNum type="arabicPeriod"/>
              <a:defRPr/>
            </a:lvl1pPr>
            <a:lvl2pPr marL="864000">
              <a:defRPr/>
            </a:lvl2pPr>
            <a:lvl3pPr marL="1296000">
              <a:defRPr/>
            </a:lvl3pPr>
            <a:lvl4pPr marL="1728000">
              <a:defRPr/>
            </a:lvl4pPr>
            <a:lvl5pPr marL="216000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CD7B-6966-E249-89F2-D46BDFBF56BE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43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Pictur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583F09-A9DA-B342-BB3A-954CD8ACEA5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096000" cy="6137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fi-FI" dirty="0" err="1"/>
              <a:t>Click</a:t>
            </a:r>
            <a:r>
              <a:rPr lang="fi-FI" dirty="0"/>
              <a:t> on box to </a:t>
            </a:r>
            <a:r>
              <a:rPr lang="fi-FI" dirty="0" err="1"/>
              <a:t>insert</a:t>
            </a:r>
            <a:r>
              <a:rPr lang="fi-FI" dirty="0"/>
              <a:t>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09199-1A6D-6C4A-B892-0A943A6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475" y="549274"/>
            <a:ext cx="5208587" cy="1223963"/>
          </a:xfrm>
        </p:spPr>
        <p:txBody>
          <a:bodyPr bIns="0" anchor="t" anchorCtr="0"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E8F10A0-07C7-2B4F-915C-60F6F98248B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467478" y="1773238"/>
            <a:ext cx="5208584" cy="576262"/>
          </a:xfrm>
        </p:spPr>
        <p:txBody>
          <a:bodyPr numCol="1" anchor="t" anchorCtr="0"/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05DC70D-4978-4940-8F72-1AF40D191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7476" y="2349500"/>
            <a:ext cx="5208585" cy="3563938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77172-FD0A-3C43-872F-022BE895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E192A-D52B-F541-B2AA-4AEB9388F1F7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4603D-E2FA-3D4D-B491-5FD2BBA8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F301F-07A5-F14E-8820-FA17F7B4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E4503D-832D-474C-8435-EBAEDCFABD84}"/>
              </a:ext>
            </a:extLst>
          </p:cNvPr>
          <p:cNvSpPr/>
          <p:nvPr userDrawn="1"/>
        </p:nvSpPr>
        <p:spPr>
          <a:xfrm>
            <a:off x="461394" y="1588571"/>
            <a:ext cx="5173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dirty="0">
                <a:solidFill>
                  <a:schemeClr val="tx1"/>
                </a:solidFill>
              </a:rPr>
              <a:t>Haaga-Helian brändikuvat löytyvät </a:t>
            </a:r>
            <a:r>
              <a:rPr lang="fi-FI" dirty="0">
                <a:solidFill>
                  <a:schemeClr val="tx1"/>
                </a:solidFill>
                <a:hlinkClick r:id="rId2"/>
              </a:rPr>
              <a:t>kuvapankista</a:t>
            </a:r>
            <a:r>
              <a:rPr lang="fi-FI" dirty="0">
                <a:solidFill>
                  <a:schemeClr val="tx1"/>
                </a:solidFill>
              </a:rPr>
              <a:t>: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257441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Graphics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8"/>
            <a:ext cx="5365749" cy="4140200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Chart Placeholder 5" title="Decorative">
            <a:extLst>
              <a:ext uri="{FF2B5EF4-FFF2-40B4-BE49-F238E27FC236}">
                <a16:creationId xmlns:a16="http://schemas.microsoft.com/office/drawing/2014/main" id="{DC5ECAD0-3CB0-AF46-B814-4947CD958BA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75388" y="1773238"/>
            <a:ext cx="5437187" cy="41402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FAA2-2B3E-264C-A42F-2D6D3EF33A3C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665C96-B5B1-6C4A-B36E-E79733B1F69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01042386"/>
              </p:ext>
            </p:extLst>
          </p:nvPr>
        </p:nvGraphicFramePr>
        <p:xfrm>
          <a:off x="12761647" y="1989138"/>
          <a:ext cx="5437187" cy="3744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2450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Four_Column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13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Text Placeholder 2" title="Decorative">
            <a:extLst>
              <a:ext uri="{FF2B5EF4-FFF2-40B4-BE49-F238E27FC236}">
                <a16:creationId xmlns:a16="http://schemas.microsoft.com/office/drawing/2014/main" id="{8E288490-9DAE-8C48-AC5A-D367464AA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25" y="1770593"/>
            <a:ext cx="2484437" cy="792000"/>
          </a:xfrm>
          <a:solidFill>
            <a:schemeClr val="accent1"/>
          </a:solidFill>
        </p:spPr>
        <p:txBody>
          <a:bodyPr lIns="144000" tIns="108000" rIns="144000" bIns="108000" numCol="1" anchor="ctr" anchorCtr="0">
            <a:norm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283EB9E-6984-944A-AC44-550DEAEEE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2925" y="2732423"/>
            <a:ext cx="2484438" cy="3181015"/>
          </a:xfrm>
        </p:spPr>
        <p:txBody>
          <a:bodyPr numCol="1"/>
          <a:lstStyle>
            <a:lvl1pPr marL="216000" indent="-216000">
              <a:lnSpc>
                <a:spcPts val="1800"/>
              </a:lnSpc>
              <a:buFont typeface="Wingdings" pitchFamily="2" charset="2"/>
              <a:buChar char="§"/>
              <a:defRPr sz="1600"/>
            </a:lvl1pPr>
            <a:lvl2pPr marL="432000">
              <a:lnSpc>
                <a:spcPts val="1600"/>
              </a:lnSpc>
              <a:defRPr sz="1400"/>
            </a:lvl2pPr>
            <a:lvl3pPr marL="648000">
              <a:lnSpc>
                <a:spcPts val="1600"/>
              </a:lnSpc>
              <a:defRPr sz="1400"/>
            </a:lvl3pPr>
            <a:lvl4pPr marL="864000">
              <a:lnSpc>
                <a:spcPts val="1600"/>
              </a:lnSpc>
              <a:defRPr sz="1400"/>
            </a:lvl4pPr>
            <a:lvl5pPr marL="1080000">
              <a:lnSpc>
                <a:spcPts val="1600"/>
              </a:lnSpc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 title="Decorative">
            <a:extLst>
              <a:ext uri="{FF2B5EF4-FFF2-40B4-BE49-F238E27FC236}">
                <a16:creationId xmlns:a16="http://schemas.microsoft.com/office/drawing/2014/main" id="{26AE33B4-8BD9-EC42-A813-157460FAB09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3392944" y="1770593"/>
            <a:ext cx="2515731" cy="792000"/>
          </a:xfrm>
          <a:solidFill>
            <a:schemeClr val="accent1"/>
          </a:solidFill>
        </p:spPr>
        <p:txBody>
          <a:bodyPr lIns="144000" tIns="108000" rIns="144000" bIns="108000" numCol="1" anchor="ctr" anchorCtr="0">
            <a:norm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EA4EBD6-E495-C946-9015-EFD0792F61A8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404877" y="2732423"/>
            <a:ext cx="2515731" cy="3181015"/>
          </a:xfrm>
        </p:spPr>
        <p:txBody>
          <a:bodyPr numCol="1"/>
          <a:lstStyle>
            <a:lvl1pPr marL="216000" indent="-216000">
              <a:lnSpc>
                <a:spcPts val="1800"/>
              </a:lnSpc>
              <a:buFont typeface="Wingdings" pitchFamily="2" charset="2"/>
              <a:buChar char="§"/>
              <a:defRPr sz="1600"/>
            </a:lvl1pPr>
            <a:lvl2pPr marL="432000">
              <a:lnSpc>
                <a:spcPts val="1600"/>
              </a:lnSpc>
              <a:defRPr sz="1400"/>
            </a:lvl2pPr>
            <a:lvl3pPr marL="648000">
              <a:lnSpc>
                <a:spcPts val="1600"/>
              </a:lnSpc>
              <a:defRPr sz="1400"/>
            </a:lvl3pPr>
            <a:lvl4pPr marL="864000">
              <a:lnSpc>
                <a:spcPts val="1600"/>
              </a:lnSpc>
              <a:defRPr sz="1400"/>
            </a:lvl4pPr>
            <a:lvl5pPr marL="1080000">
              <a:lnSpc>
                <a:spcPts val="1600"/>
              </a:lnSpc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 title="Decorative">
            <a:extLst>
              <a:ext uri="{FF2B5EF4-FFF2-40B4-BE49-F238E27FC236}">
                <a16:creationId xmlns:a16="http://schemas.microsoft.com/office/drawing/2014/main" id="{68BE045E-8E28-0D45-9823-F5C43CEB1D3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283538" y="1770593"/>
            <a:ext cx="2504862" cy="792000"/>
          </a:xfrm>
          <a:solidFill>
            <a:schemeClr val="accent1"/>
          </a:solidFill>
        </p:spPr>
        <p:txBody>
          <a:bodyPr lIns="144000" tIns="108000" rIns="144000" bIns="108000" numCol="1" anchor="ctr" anchorCtr="0">
            <a:norm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F32E1E8B-12C0-1F44-9884-A0BE1104DEF0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271394" y="2732423"/>
            <a:ext cx="2511167" cy="3181015"/>
          </a:xfrm>
        </p:spPr>
        <p:txBody>
          <a:bodyPr numCol="1"/>
          <a:lstStyle>
            <a:lvl1pPr marL="216000" indent="-216000">
              <a:lnSpc>
                <a:spcPts val="1800"/>
              </a:lnSpc>
              <a:buFont typeface="Wingdings" pitchFamily="2" charset="2"/>
              <a:buChar char="§"/>
              <a:defRPr sz="1600"/>
            </a:lvl1pPr>
            <a:lvl2pPr marL="432000">
              <a:lnSpc>
                <a:spcPts val="1600"/>
              </a:lnSpc>
              <a:defRPr sz="1400"/>
            </a:lvl2pPr>
            <a:lvl3pPr marL="648000">
              <a:lnSpc>
                <a:spcPts val="1600"/>
              </a:lnSpc>
              <a:defRPr sz="1400"/>
            </a:lvl3pPr>
            <a:lvl4pPr marL="864000">
              <a:lnSpc>
                <a:spcPts val="1600"/>
              </a:lnSpc>
              <a:defRPr sz="1400"/>
            </a:lvl4pPr>
            <a:lvl5pPr marL="1080000">
              <a:lnSpc>
                <a:spcPts val="1600"/>
              </a:lnSpc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 title="Decorative">
            <a:extLst>
              <a:ext uri="{FF2B5EF4-FFF2-40B4-BE49-F238E27FC236}">
                <a16:creationId xmlns:a16="http://schemas.microsoft.com/office/drawing/2014/main" id="{4303AA4A-2AA0-654E-ACED-3CB2C390E19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9148762" y="1770593"/>
            <a:ext cx="2519363" cy="792000"/>
          </a:xfrm>
          <a:solidFill>
            <a:schemeClr val="accent1"/>
          </a:solidFill>
        </p:spPr>
        <p:txBody>
          <a:bodyPr lIns="144000" tIns="108000" rIns="144000" bIns="108000" numCol="1" anchor="ctr" anchorCtr="0">
            <a:normAutofit/>
          </a:bodyPr>
          <a:lstStyle>
            <a:lvl1pPr marL="0" indent="0" algn="ctr">
              <a:lnSpc>
                <a:spcPts val="18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2B87788B-03D7-A041-A8E3-69FB4BF50960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56699" y="2732423"/>
            <a:ext cx="2519363" cy="3181015"/>
          </a:xfrm>
        </p:spPr>
        <p:txBody>
          <a:bodyPr numCol="1"/>
          <a:lstStyle>
            <a:lvl1pPr marL="216000" indent="-216000">
              <a:lnSpc>
                <a:spcPts val="1800"/>
              </a:lnSpc>
              <a:buFont typeface="Wingdings" pitchFamily="2" charset="2"/>
              <a:buChar char="§"/>
              <a:defRPr sz="1600"/>
            </a:lvl1pPr>
            <a:lvl2pPr marL="432000">
              <a:lnSpc>
                <a:spcPts val="1600"/>
              </a:lnSpc>
              <a:defRPr sz="1400"/>
            </a:lvl2pPr>
            <a:lvl3pPr marL="648000">
              <a:lnSpc>
                <a:spcPts val="1600"/>
              </a:lnSpc>
              <a:defRPr sz="1400"/>
            </a:lvl3pPr>
            <a:lvl4pPr marL="864000">
              <a:lnSpc>
                <a:spcPts val="1600"/>
              </a:lnSpc>
              <a:defRPr sz="1400"/>
            </a:lvl4pPr>
            <a:lvl5pPr marL="1080000">
              <a:lnSpc>
                <a:spcPts val="1600"/>
              </a:lnSpc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14A65-8017-1743-A85A-B2A4BB835AE9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572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8"/>
            <a:ext cx="11125198" cy="4140200"/>
          </a:xfrm>
        </p:spPr>
        <p:txBody>
          <a:bodyPr numCol="1"/>
          <a:lstStyle>
            <a:lvl1pPr marL="360000" indent="-360000">
              <a:buFontTx/>
              <a:buNone/>
              <a:defRPr/>
            </a:lvl1pPr>
            <a:lvl2pPr marL="864000">
              <a:defRPr/>
            </a:lvl2pPr>
            <a:lvl3pPr marL="1296000">
              <a:defRPr/>
            </a:lvl3pPr>
            <a:lvl4pPr marL="1728000">
              <a:defRPr/>
            </a:lvl4pPr>
            <a:lvl5pPr marL="216000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CD7B-6966-E249-89F2-D46BDFBF56BE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89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mputer sitting on top of a table&#10;&#10;Description automatically generated">
            <a:extLst>
              <a:ext uri="{FF2B5EF4-FFF2-40B4-BE49-F238E27FC236}">
                <a16:creationId xmlns:a16="http://schemas.microsoft.com/office/drawing/2014/main" id="{8EEFCBFA-BDAD-D34C-9A8B-2F7C8A8AFA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12370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470768-DFDA-C045-91C3-E4A4C8EF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96402"/>
            <a:ext cx="5616575" cy="1265196"/>
          </a:xfrm>
        </p:spPr>
        <p:txBody>
          <a:bodyPr anchor="ctr" anchorCtr="0">
            <a:normAutofit/>
          </a:bodyPr>
          <a:lstStyle>
            <a:lvl1pPr algn="l">
              <a:lnSpc>
                <a:spcPts val="4800"/>
              </a:lnSpc>
              <a:defRPr sz="44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707F25-B2A1-2843-BAC7-68171ECBA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061598"/>
            <a:ext cx="5580062" cy="1672452"/>
          </a:xfrm>
        </p:spPr>
        <p:txBody>
          <a:bodyPr bIns="0" numCol="1" anchor="b" anchorCtr="0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lnSpc>
                <a:spcPts val="2400"/>
              </a:lnSpc>
              <a:spcBef>
                <a:spcPts val="600"/>
              </a:spcBef>
            </a:pPr>
            <a:r>
              <a:rPr lang="en-US" sz="1800">
                <a:solidFill>
                  <a:schemeClr val="accent1"/>
                </a:solidFill>
              </a:rPr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A85A-FC56-D34C-9AA6-ECC3D2586F37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915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2Column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8"/>
            <a:ext cx="11125198" cy="414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C6EEF-E660-7844-8930-418AFF95EA40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227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2column_Subheadline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68CF3-D9B4-FF41-BDA1-3F28E81C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773238"/>
            <a:ext cx="11125199" cy="576262"/>
          </a:xfrm>
        </p:spPr>
        <p:txBody>
          <a:bodyPr numCol="1" anchor="t" anchorCtr="0"/>
          <a:lstStyle>
            <a:lvl1pPr marL="0" indent="0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2349500"/>
            <a:ext cx="11125198" cy="3563938"/>
          </a:xfrm>
        </p:spPr>
        <p:txBody>
          <a:bodyPr/>
          <a:lstStyle>
            <a:lvl1pPr marL="288000" indent="-288000">
              <a:buFont typeface="+mj-lt"/>
              <a:buAutoNum type="arabicPeriod"/>
              <a:defRPr/>
            </a:lvl1pPr>
            <a:lvl2pPr marL="720000">
              <a:defRPr/>
            </a:lvl2pPr>
            <a:lvl3pPr marL="1080000">
              <a:defRPr/>
            </a:lvl3pPr>
            <a:lvl4pPr marL="1440000">
              <a:defRPr/>
            </a:lvl4pPr>
            <a:lvl5pPr marL="180000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C7EC-C1C1-9849-A573-7692478FCD52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484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mparison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CB7D-5CE1-9F42-AF98-A7BDF7CB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14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FF869-0A57-8744-AF43-1DD5F0265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9"/>
            <a:ext cx="5365750" cy="4140200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51DBAD3-72AB-224A-860C-9CB2F35578E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86646" y="1773239"/>
            <a:ext cx="5389417" cy="4140200"/>
          </a:xfrm>
        </p:spPr>
        <p:txBody>
          <a:bodyPr numCol="1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D3CFF-BC30-A24C-A6C5-01B20436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FF3FE-30BE-2040-9151-6FBC4992BF4F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8CD3-7FE6-7241-984C-E2104526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55EF8-B435-1E4D-A91A-7793311A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761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80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63482-3E3E-724A-87A8-CA82245B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125200" cy="1223963"/>
          </a:xfrm>
          <a:prstGeom prst="rect">
            <a:avLst/>
          </a:prstGeom>
        </p:spPr>
        <p:txBody>
          <a:bodyPr vert="horz" lIns="0" tIns="0" rIns="0" bIns="3600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45BB-E865-604D-BAD8-9A4AAA649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773238"/>
            <a:ext cx="11125200" cy="4140200"/>
          </a:xfrm>
          <a:prstGeom prst="rect">
            <a:avLst/>
          </a:prstGeom>
        </p:spPr>
        <p:txBody>
          <a:bodyPr vert="horz" lIns="0" tIns="0" rIns="0" bIns="36000" numCol="2" spcCol="360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BB03F7-6D8B-994F-B00B-57FCFD1550EE}"/>
              </a:ext>
            </a:extLst>
          </p:cNvPr>
          <p:cNvSpPr/>
          <p:nvPr userDrawn="1"/>
        </p:nvSpPr>
        <p:spPr>
          <a:xfrm>
            <a:off x="0" y="6136545"/>
            <a:ext cx="12192000" cy="721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C0EF-580B-7B4D-8051-A442671FE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288437"/>
            <a:ext cx="1864203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>
              <a:defRPr sz="1000">
                <a:solidFill>
                  <a:schemeClr val="accent2"/>
                </a:solidFill>
              </a:defRPr>
            </a:lvl1pPr>
          </a:lstStyle>
          <a:p>
            <a:fld id="{45F98643-D206-614D-B596-3C8548138211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AB0CA-CA1F-FC45-B0C9-FA79FC6B5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5066" y="6288437"/>
            <a:ext cx="7359718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endParaRPr lang="en-GB" dirty="0">
              <a:solidFill>
                <a:schemeClr val="accent2"/>
              </a:solidFill>
            </a:endParaRPr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037C8E5-D5A4-4544-8E1A-4F9421027E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16005" b="22114"/>
          <a:stretch/>
        </p:blipFill>
        <p:spPr>
          <a:xfrm>
            <a:off x="9774784" y="6136545"/>
            <a:ext cx="1295400" cy="72145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3BE1B-B189-8D41-8637-DAFFE0A4F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1759" y="6288437"/>
            <a:ext cx="3094304" cy="3651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76BAB7ED-EDE9-4D4B-9A2D-30E18C47C1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90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70" r:id="rId3"/>
    <p:sldLayoutId id="2147483653" r:id="rId4"/>
    <p:sldLayoutId id="2147483669" r:id="rId5"/>
    <p:sldLayoutId id="2147483662" r:id="rId6"/>
    <p:sldLayoutId id="2147483664" r:id="rId7"/>
    <p:sldLayoutId id="2147483665" r:id="rId8"/>
    <p:sldLayoutId id="2147483673" r:id="rId9"/>
    <p:sldLayoutId id="2147483667" r:id="rId10"/>
    <p:sldLayoutId id="2147483660" r:id="rId11"/>
    <p:sldLayoutId id="2147483661" r:id="rId12"/>
    <p:sldLayoutId id="2147483672" r:id="rId13"/>
    <p:sldLayoutId id="2147483657" r:id="rId14"/>
  </p:sldLayoutIdLst>
  <p:hf hdr="0"/>
  <p:txStyles>
    <p:titleStyle>
      <a:lvl1pPr algn="l" defTabSz="914400" rtl="0" eaLnBrk="1" latinLnBrk="0" hangingPunct="1">
        <a:lnSpc>
          <a:spcPts val="39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ts val="22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16000" algn="l" defTabSz="914400" rtl="0" eaLnBrk="1" latinLnBrk="0" hangingPunct="1">
        <a:lnSpc>
          <a:spcPts val="2000"/>
        </a:lnSpc>
        <a:spcBef>
          <a:spcPts val="8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47" userDrawn="1">
          <p15:clr>
            <a:srgbClr val="F26B43"/>
          </p15:clr>
        </p15:guide>
        <p15:guide id="4" pos="7355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1117" userDrawn="1">
          <p15:clr>
            <a:srgbClr val="F26B43"/>
          </p15:clr>
        </p15:guide>
        <p15:guide id="7" orient="horz" pos="3725" userDrawn="1">
          <p15:clr>
            <a:srgbClr val="F26B43"/>
          </p15:clr>
        </p15:guide>
        <p15:guide id="8" orient="horz" pos="4178" userDrawn="1">
          <p15:clr>
            <a:srgbClr val="F26B43"/>
          </p15:clr>
        </p15:guide>
        <p15:guide id="9" pos="3727" userDrawn="1">
          <p15:clr>
            <a:srgbClr val="F26B43"/>
          </p15:clr>
        </p15:guide>
        <p15:guide id="10" pos="3953" userDrawn="1">
          <p15:clr>
            <a:srgbClr val="F26B43"/>
          </p15:clr>
        </p15:guide>
        <p15:guide id="11" pos="1912" userDrawn="1">
          <p15:clr>
            <a:srgbClr val="F26B43"/>
          </p15:clr>
        </p15:guide>
        <p15:guide id="12" pos="2139" userDrawn="1">
          <p15:clr>
            <a:srgbClr val="F26B43"/>
          </p15:clr>
        </p15:guide>
        <p15:guide id="13" pos="5541" userDrawn="1">
          <p15:clr>
            <a:srgbClr val="F26B43"/>
          </p15:clr>
        </p15:guide>
        <p15:guide id="14" pos="5768" userDrawn="1">
          <p15:clr>
            <a:srgbClr val="F26B43"/>
          </p15:clr>
        </p15:guide>
        <p15:guide id="15" pos="4067" userDrawn="1">
          <p15:clr>
            <a:srgbClr val="F26B43"/>
          </p15:clr>
        </p15:guide>
        <p15:guide id="16" orient="horz" pos="3861" userDrawn="1">
          <p15:clr>
            <a:srgbClr val="F26B43"/>
          </p15:clr>
        </p15:guide>
        <p15:guide id="17" orient="horz" pos="14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lju/JS_ES_Features/blob/master/TS_basics/TS_in_a_fullstack_project.md" TargetMode="External"/><Relationship Id="rId2" Type="http://schemas.openxmlformats.org/officeDocument/2006/relationships/hyperlink" Target="https://github.com/valju/JS_ES_Features/blob/master/ES_advanced/ES_advanced_or_tricky_features.m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learn/getting-started/an-introduction-to-the-npm-package-manager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88A5-A888-E24C-9E8C-131F880EE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TypeScript usage explained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3DE56-58EC-744D-BFE0-22D8C9079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TypeScript is related to JavaScript/ECMAScript and what steps are needed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DECD0-2225-B444-B642-3639BBB6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63A1-919F-FB49-ABA8-182126D24C50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7D95D-9CDB-D744-A0C6-A352945F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Juhani Välimäki</a:t>
            </a:r>
          </a:p>
        </p:txBody>
      </p:sp>
    </p:spTree>
    <p:extLst>
      <p:ext uri="{BB962C8B-B14F-4D97-AF65-F5344CB8AC3E}">
        <p14:creationId xmlns:p14="http://schemas.microsoft.com/office/powerpoint/2010/main" val="343623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Principles as a picture</a:t>
            </a:r>
            <a:endParaRPr lang="fi-FI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2</a:t>
            </a:fld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45BB1F-4797-DDB7-B8A8-1AF92D637E1E}"/>
              </a:ext>
            </a:extLst>
          </p:cNvPr>
          <p:cNvSpPr/>
          <p:nvPr/>
        </p:nvSpPr>
        <p:spPr>
          <a:xfrm>
            <a:off x="3089189" y="1773238"/>
            <a:ext cx="4161182" cy="403405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rtlCol="0" anchor="t" anchorCtr="0"/>
          <a:lstStyle/>
          <a:p>
            <a:pPr algn="ctr"/>
            <a:r>
              <a:rPr lang="fi-FI" sz="3600"/>
              <a:t>TypeScript</a:t>
            </a:r>
          </a:p>
          <a:p>
            <a:pPr algn="ctr"/>
            <a:endParaRPr lang="fi-FI" sz="3600"/>
          </a:p>
          <a:p>
            <a:pPr algn="ctr"/>
            <a:endParaRPr lang="fi-FI" sz="3600"/>
          </a:p>
          <a:p>
            <a:pPr algn="ctr"/>
            <a:endParaRPr lang="fi-FI" sz="3600"/>
          </a:p>
          <a:p>
            <a:pPr algn="ctr"/>
            <a:endParaRPr lang="fi-FI" sz="36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7514AA-C490-FD52-42D6-594B9CAFF19C}"/>
              </a:ext>
            </a:extLst>
          </p:cNvPr>
          <p:cNvSpPr/>
          <p:nvPr/>
        </p:nvSpPr>
        <p:spPr>
          <a:xfrm>
            <a:off x="4265477" y="2952852"/>
            <a:ext cx="2759952" cy="2644239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fi-FI" sz="2400" dirty="0" err="1"/>
              <a:t>ECMAScript</a:t>
            </a:r>
            <a:r>
              <a:rPr lang="fi-FI" sz="2400" dirty="0"/>
              <a:t> </a:t>
            </a:r>
            <a:r>
              <a:rPr lang="fi-FI" sz="2400" dirty="0" err="1"/>
              <a:t>new</a:t>
            </a:r>
            <a:r>
              <a:rPr lang="fi-FI" sz="2400" dirty="0"/>
              <a:t> </a:t>
            </a:r>
            <a:r>
              <a:rPr lang="fi-FI" sz="2400" dirty="0" err="1"/>
              <a:t>features</a:t>
            </a:r>
            <a:endParaRPr lang="fi-FI" sz="2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B342A3-E735-1D31-6901-D9732A13AC7F}"/>
              </a:ext>
            </a:extLst>
          </p:cNvPr>
          <p:cNvSpPr/>
          <p:nvPr/>
        </p:nvSpPr>
        <p:spPr>
          <a:xfrm>
            <a:off x="4685988" y="4073091"/>
            <a:ext cx="2141518" cy="139732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older</a:t>
            </a:r>
            <a:r>
              <a:rPr lang="fi-FI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ES/ JavaScript</a:t>
            </a:r>
          </a:p>
          <a:p>
            <a:pPr algn="ctr"/>
            <a:r>
              <a:rPr lang="fi-FI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supported</a:t>
            </a:r>
            <a:endParaRPr lang="fi-FI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fi-FI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by</a:t>
            </a:r>
            <a:r>
              <a:rPr lang="fi-FI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i-FI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runtime</a:t>
            </a:r>
            <a:endParaRPr lang="fi-FI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51AB5-4355-ADFF-9C8A-A46BAB84D23C}"/>
              </a:ext>
            </a:extLst>
          </p:cNvPr>
          <p:cNvSpPr txBox="1"/>
          <p:nvPr/>
        </p:nvSpPr>
        <p:spPr>
          <a:xfrm>
            <a:off x="3048000" y="3311298"/>
            <a:ext cx="1394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>
                <a:solidFill>
                  <a:schemeClr val="bg1"/>
                </a:solidFill>
              </a:rPr>
              <a:t>e.g. </a:t>
            </a:r>
            <a:r>
              <a:rPr lang="fi-FI" dirty="0" err="1">
                <a:solidFill>
                  <a:schemeClr val="bg1"/>
                </a:solidFill>
              </a:rPr>
              <a:t>type</a:t>
            </a:r>
            <a:endParaRPr lang="fi-FI" dirty="0">
              <a:solidFill>
                <a:schemeClr val="bg1"/>
              </a:solidFill>
            </a:endParaRPr>
          </a:p>
          <a:p>
            <a:r>
              <a:rPr lang="fi-FI" dirty="0" err="1">
                <a:solidFill>
                  <a:schemeClr val="bg1"/>
                </a:solidFill>
              </a:rPr>
              <a:t>annotations</a:t>
            </a:r>
            <a:endParaRPr lang="fi-FI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94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tsc</a:t>
            </a:r>
            <a:r>
              <a:rPr lang="en-US" dirty="0"/>
              <a:t> compilation as the image</a:t>
            </a:r>
            <a:endParaRPr lang="fi-FI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3</a:t>
            </a:fld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45BB1F-4797-DDB7-B8A8-1AF92D637E1E}"/>
              </a:ext>
            </a:extLst>
          </p:cNvPr>
          <p:cNvSpPr/>
          <p:nvPr/>
        </p:nvSpPr>
        <p:spPr>
          <a:xfrm>
            <a:off x="3089189" y="1773238"/>
            <a:ext cx="4161182" cy="403405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rtlCol="0" anchor="t" anchorCtr="0"/>
          <a:lstStyle/>
          <a:p>
            <a:pPr algn="ctr"/>
            <a:r>
              <a:rPr lang="fi-FI" sz="3600" dirty="0" err="1"/>
              <a:t>TypeScript</a:t>
            </a:r>
            <a:endParaRPr lang="fi-FI" sz="3600" dirty="0"/>
          </a:p>
          <a:p>
            <a:pPr algn="ctr"/>
            <a:endParaRPr lang="fi-FI" sz="3600" dirty="0"/>
          </a:p>
          <a:p>
            <a:pPr algn="ctr"/>
            <a:endParaRPr lang="fi-FI" sz="3600" dirty="0"/>
          </a:p>
          <a:p>
            <a:pPr algn="ctr"/>
            <a:endParaRPr lang="fi-FI" sz="3600" dirty="0"/>
          </a:p>
          <a:p>
            <a:pPr algn="ctr"/>
            <a:endParaRPr lang="fi-FI" sz="36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7514AA-C490-FD52-42D6-594B9CAFF19C}"/>
              </a:ext>
            </a:extLst>
          </p:cNvPr>
          <p:cNvSpPr/>
          <p:nvPr/>
        </p:nvSpPr>
        <p:spPr>
          <a:xfrm>
            <a:off x="4265477" y="2952852"/>
            <a:ext cx="2759952" cy="2644239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fi-FI" sz="2400" dirty="0" err="1"/>
              <a:t>ECMAScript</a:t>
            </a:r>
            <a:r>
              <a:rPr lang="fi-FI" sz="2400" dirty="0"/>
              <a:t> </a:t>
            </a:r>
            <a:r>
              <a:rPr lang="fi-FI" sz="2400" dirty="0" err="1"/>
              <a:t>new</a:t>
            </a:r>
            <a:r>
              <a:rPr lang="fi-FI" sz="2400" dirty="0"/>
              <a:t> </a:t>
            </a:r>
            <a:r>
              <a:rPr lang="fi-FI" sz="2400" dirty="0" err="1"/>
              <a:t>features</a:t>
            </a:r>
            <a:endParaRPr lang="fi-FI" sz="2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B342A3-E735-1D31-6901-D9732A13AC7F}"/>
              </a:ext>
            </a:extLst>
          </p:cNvPr>
          <p:cNvSpPr/>
          <p:nvPr/>
        </p:nvSpPr>
        <p:spPr>
          <a:xfrm>
            <a:off x="4685988" y="4073091"/>
            <a:ext cx="2141518" cy="139732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older</a:t>
            </a:r>
            <a:r>
              <a:rPr lang="fi-FI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ES/JavaScript</a:t>
            </a:r>
          </a:p>
          <a:p>
            <a:pPr algn="ctr"/>
            <a:r>
              <a:rPr lang="fi-FI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supported</a:t>
            </a:r>
            <a:endParaRPr lang="fi-FI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fi-FI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by</a:t>
            </a:r>
            <a:r>
              <a:rPr lang="fi-FI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i-FI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runtimes</a:t>
            </a:r>
            <a:endParaRPr lang="fi-FI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591374-1CF4-4859-DB08-BD23143A16D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089189" y="3790265"/>
            <a:ext cx="1802407" cy="545640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D88B8BC-D260-0335-060F-525A18E0E945}"/>
              </a:ext>
            </a:extLst>
          </p:cNvPr>
          <p:cNvSpPr txBox="1"/>
          <p:nvPr/>
        </p:nvSpPr>
        <p:spPr>
          <a:xfrm>
            <a:off x="3089189" y="3246641"/>
            <a:ext cx="14920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 err="1">
                <a:solidFill>
                  <a:schemeClr val="bg1"/>
                </a:solidFill>
              </a:rPr>
              <a:t>t</a:t>
            </a:r>
            <a:r>
              <a:rPr lang="fi-FI" sz="1800" dirty="0" err="1">
                <a:solidFill>
                  <a:schemeClr val="bg1"/>
                </a:solidFill>
              </a:rPr>
              <a:t>sc</a:t>
            </a:r>
            <a:r>
              <a:rPr lang="fi-FI" sz="1800" dirty="0">
                <a:solidFill>
                  <a:schemeClr val="bg1"/>
                </a:solidFill>
              </a:rPr>
              <a:t> </a:t>
            </a:r>
            <a:r>
              <a:rPr lang="fi-FI" sz="1800" dirty="0" err="1">
                <a:solidFill>
                  <a:schemeClr val="bg1"/>
                </a:solidFill>
              </a:rPr>
              <a:t>compilation</a:t>
            </a:r>
            <a:endParaRPr lang="fi-FI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5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Installing TypeScript to your computer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r>
              <a:rPr lang="en-US" dirty="0"/>
              <a:t>Assuming you have Node.js already installed to your computer, continue by installing TypeScript, e.g. this might be the correct command: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npm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typescript --save-dev</a:t>
            </a:r>
            <a:br>
              <a:rPr lang="en-US" dirty="0">
                <a:latin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typescript @types/node     # some old command found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32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Starting to turn JavaScript project to TypeScript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r>
              <a:rPr lang="en-US" dirty="0"/>
              <a:t>… or starting TypeScript project from zero (basically same steps!)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84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Initialize the (JS or new) project as TS project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tsc</a:t>
            </a:r>
            <a:r>
              <a:rPr lang="en-US" dirty="0">
                <a:latin typeface="Consolas" panose="020B0609020204030204" pitchFamily="49" charset="0"/>
              </a:rPr>
              <a:t> --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/>
              <a:t>or</a:t>
            </a:r>
            <a:r>
              <a:rPr lang="en-US" dirty="0">
                <a:latin typeface="Consolas" panose="020B0609020204030204" pitchFamily="49" charset="0"/>
              </a:rPr>
              <a:t>    &gt; </a:t>
            </a:r>
            <a:r>
              <a:rPr lang="en-US" dirty="0" err="1">
                <a:latin typeface="Consolas" panose="020B0609020204030204" pitchFamily="49" charset="0"/>
              </a:rPr>
              <a:t>npx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tsc</a:t>
            </a:r>
            <a:r>
              <a:rPr lang="en-US" dirty="0">
                <a:latin typeface="Consolas" panose="020B0609020204030204" pitchFamily="49" charset="0"/>
              </a:rPr>
              <a:t> --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Creates the </a:t>
            </a:r>
            <a:r>
              <a:rPr lang="en-US" dirty="0" err="1"/>
              <a:t>tsconfig.json</a:t>
            </a:r>
            <a:r>
              <a:rPr lang="en-US" dirty="0"/>
              <a:t> file to the project root. Example console output below from 2025: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Created a new </a:t>
            </a:r>
            <a:r>
              <a:rPr lang="en-US" dirty="0" err="1">
                <a:latin typeface="Consolas" panose="020B0609020204030204" pitchFamily="49" charset="0"/>
              </a:rPr>
              <a:t>tsconfig.json</a:t>
            </a:r>
            <a:r>
              <a:rPr lang="en-US" dirty="0">
                <a:latin typeface="Consolas" panose="020B0609020204030204" pitchFamily="49" charset="0"/>
              </a:rPr>
              <a:t> with: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target: es2016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module: </a:t>
            </a:r>
            <a:r>
              <a:rPr lang="en-US" dirty="0" err="1">
                <a:latin typeface="Consolas" panose="020B0609020204030204" pitchFamily="49" charset="0"/>
              </a:rPr>
              <a:t>commonjs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strict: true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esModuleInterop</a:t>
            </a:r>
            <a:r>
              <a:rPr lang="en-US" dirty="0">
                <a:latin typeface="Consolas" panose="020B0609020204030204" pitchFamily="49" charset="0"/>
              </a:rPr>
              <a:t>: true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skipLibCheck</a:t>
            </a:r>
            <a:r>
              <a:rPr lang="en-US" dirty="0">
                <a:latin typeface="Consolas" panose="020B0609020204030204" pitchFamily="49" charset="0"/>
              </a:rPr>
              <a:t>: true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forceConsistentCasingInFileNames</a:t>
            </a:r>
            <a:r>
              <a:rPr lang="en-US" dirty="0">
                <a:latin typeface="Consolas" panose="020B0609020204030204" pitchFamily="49" charset="0"/>
              </a:rPr>
              <a:t>: true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48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tsconfig.json</a:t>
            </a:r>
            <a:r>
              <a:rPr lang="en-US" dirty="0"/>
              <a:t> file: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r>
              <a:rPr lang="en-US" dirty="0"/>
              <a:t>E.g. </a:t>
            </a:r>
          </a:p>
          <a:p>
            <a:r>
              <a:rPr lang="en-US" dirty="0"/>
              <a:t>source folder (for TS files)</a:t>
            </a:r>
          </a:p>
          <a:p>
            <a:r>
              <a:rPr lang="en-US" dirty="0"/>
              <a:t>Output / </a:t>
            </a:r>
            <a:r>
              <a:rPr lang="en-US" dirty="0" err="1"/>
              <a:t>dist</a:t>
            </a:r>
            <a:r>
              <a:rPr lang="en-US" dirty="0"/>
              <a:t> folder (for compiled JS files)</a:t>
            </a:r>
          </a:p>
          <a:p>
            <a:r>
              <a:rPr lang="en-US" dirty="0"/>
              <a:t>How strict TypeScript should be required/followed?</a:t>
            </a:r>
          </a:p>
          <a:p>
            <a:r>
              <a:rPr lang="en-US" dirty="0"/>
              <a:t>What version of ES should the output be?  ES 2020?</a:t>
            </a:r>
          </a:p>
          <a:p>
            <a:r>
              <a:rPr lang="en-US" dirty="0"/>
              <a:t>The module mechanism to use?  e.g. </a:t>
            </a:r>
          </a:p>
          <a:p>
            <a:pPr lvl="1"/>
            <a:r>
              <a:rPr lang="en-US" dirty="0"/>
              <a:t>ES6 (2015</a:t>
            </a:r>
            <a:r>
              <a:rPr lang="en-US"/>
              <a:t>):      export / import                    instead </a:t>
            </a:r>
            <a:r>
              <a:rPr lang="en-US" dirty="0"/>
              <a:t>of </a:t>
            </a:r>
          </a:p>
          <a:p>
            <a:pPr lvl="1"/>
            <a:r>
              <a:rPr lang="en-US" dirty="0" err="1"/>
              <a:t>CommonJS</a:t>
            </a:r>
            <a:r>
              <a:rPr lang="en-US" dirty="0"/>
              <a:t>:     </a:t>
            </a:r>
            <a:r>
              <a:rPr lang="en-US" dirty="0" err="1"/>
              <a:t>module.exports</a:t>
            </a:r>
            <a:r>
              <a:rPr lang="en-US" dirty="0"/>
              <a:t> / require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05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 err="1"/>
              <a:t>tsconfig.json</a:t>
            </a:r>
            <a:r>
              <a:rPr lang="en-US" sz="4000" dirty="0"/>
              <a:t> file     (An example from 2024)</a:t>
            </a:r>
            <a:endParaRPr lang="fi-FI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1641146"/>
            <a:ext cx="11125198" cy="4759498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"</a:t>
            </a:r>
            <a:r>
              <a:rPr lang="en-US" sz="2600" dirty="0" err="1">
                <a:latin typeface="Consolas" panose="020B0609020204030204" pitchFamily="49" charset="0"/>
              </a:rPr>
              <a:t>compilerOptions</a:t>
            </a:r>
            <a:r>
              <a:rPr lang="en-US" sz="2600" dirty="0">
                <a:latin typeface="Consolas" panose="020B0609020204030204" pitchFamily="49" charset="0"/>
              </a:rPr>
              <a:t>": {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  "target": "es2022",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  "module": "</a:t>
            </a:r>
            <a:r>
              <a:rPr lang="en-US" sz="2600" dirty="0" err="1">
                <a:latin typeface="Consolas" panose="020B0609020204030204" pitchFamily="49" charset="0"/>
              </a:rPr>
              <a:t>nodenext</a:t>
            </a:r>
            <a:r>
              <a:rPr lang="en-US" sz="2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  "</a:t>
            </a:r>
            <a:r>
              <a:rPr lang="en-US" sz="2600" dirty="0" err="1">
                <a:latin typeface="Consolas" panose="020B0609020204030204" pitchFamily="49" charset="0"/>
              </a:rPr>
              <a:t>outDir</a:t>
            </a:r>
            <a:r>
              <a:rPr lang="en-US" sz="2600" dirty="0">
                <a:latin typeface="Consolas" panose="020B0609020204030204" pitchFamily="49" charset="0"/>
              </a:rPr>
              <a:t>": "</a:t>
            </a:r>
            <a:r>
              <a:rPr lang="en-US" sz="2600" dirty="0" err="1">
                <a:latin typeface="Consolas" panose="020B0609020204030204" pitchFamily="49" charset="0"/>
              </a:rPr>
              <a:t>dist</a:t>
            </a:r>
            <a:r>
              <a:rPr lang="en-US" sz="26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  "strict": true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},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"include": [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  "</a:t>
            </a:r>
            <a:r>
              <a:rPr lang="en-US" sz="2600" dirty="0" err="1">
                <a:latin typeface="Consolas" panose="020B0609020204030204" pitchFamily="49" charset="0"/>
              </a:rPr>
              <a:t>src</a:t>
            </a:r>
            <a:r>
              <a:rPr lang="en-US" sz="2600" dirty="0">
                <a:latin typeface="Consolas" panose="020B0609020204030204" pitchFamily="49" charset="0"/>
              </a:rPr>
              <a:t>"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  ]</a:t>
            </a:r>
          </a:p>
          <a:p>
            <a:r>
              <a:rPr lang="en-US" sz="2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96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Package.json</a:t>
            </a:r>
            <a:r>
              <a:rPr lang="en-US" dirty="0"/>
              <a:t> </a:t>
            </a:r>
            <a:r>
              <a:rPr lang="en-US" dirty="0" err="1"/>
              <a:t>npm</a:t>
            </a:r>
            <a:r>
              <a:rPr lang="en-US" dirty="0"/>
              <a:t> run/build </a:t>
            </a:r>
            <a:r>
              <a:rPr lang="en-US" dirty="0" err="1"/>
              <a:t>etc</a:t>
            </a:r>
            <a:r>
              <a:rPr lang="en-US" dirty="0"/>
              <a:t> scripts changed 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r>
              <a:rPr lang="en-US" dirty="0"/>
              <a:t>…scripts won’t be using JS tools anymore, but use TS tools like </a:t>
            </a:r>
            <a:r>
              <a:rPr lang="en-US" dirty="0" err="1"/>
              <a:t>tsc</a:t>
            </a:r>
            <a:r>
              <a:rPr lang="en-US" dirty="0"/>
              <a:t> compiler</a:t>
            </a:r>
          </a:p>
          <a:p>
            <a:r>
              <a:rPr lang="en-US" dirty="0"/>
              <a:t>Or e.g. </a:t>
            </a:r>
            <a:r>
              <a:rPr lang="en-US" dirty="0" err="1"/>
              <a:t>tsc</a:t>
            </a:r>
            <a:r>
              <a:rPr lang="en-US" dirty="0"/>
              <a:t>-watch could look for changing .</a:t>
            </a:r>
            <a:r>
              <a:rPr lang="en-US" dirty="0" err="1"/>
              <a:t>ts</a:t>
            </a:r>
            <a:r>
              <a:rPr lang="en-US" dirty="0"/>
              <a:t> files and compile them automatically to .</a:t>
            </a:r>
            <a:r>
              <a:rPr lang="en-US" dirty="0" err="1"/>
              <a:t>js</a:t>
            </a:r>
            <a:r>
              <a:rPr lang="en-US" dirty="0"/>
              <a:t> files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424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Renaming source files from .</a:t>
            </a:r>
            <a:r>
              <a:rPr lang="en-US" dirty="0" err="1"/>
              <a:t>js</a:t>
            </a:r>
            <a:r>
              <a:rPr lang="en-US" dirty="0"/>
              <a:t> to .</a:t>
            </a:r>
            <a:r>
              <a:rPr lang="en-US" dirty="0" err="1"/>
              <a:t>ts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r>
              <a:rPr lang="en-US" dirty="0"/>
              <a:t>… and start using TypeScript / ECMAScript features (e.g. according to the list on course materials)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34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You can use TypeScript and modern ECMAScript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r>
              <a:rPr lang="en-US" dirty="0"/>
              <a:t>… as TypeScript compiler </a:t>
            </a:r>
            <a:r>
              <a:rPr lang="en-US" dirty="0" err="1"/>
              <a:t>tsc</a:t>
            </a:r>
            <a:r>
              <a:rPr lang="en-US" dirty="0"/>
              <a:t> still makes compilation to older ECMAScript understood by the runtime(s)</a:t>
            </a:r>
          </a:p>
          <a:p>
            <a:r>
              <a:rPr lang="en-US" b="1" dirty="0"/>
              <a:t>ECMAScript</a:t>
            </a:r>
            <a:r>
              <a:rPr lang="en-US" dirty="0"/>
              <a:t>, some tricky features: </a:t>
            </a:r>
            <a:r>
              <a:rPr lang="en-US" dirty="0">
                <a:hlinkClick r:id="rId2"/>
              </a:rPr>
              <a:t>https://github.com/valju/JS_ES_Features/blob/master/ES_advanced/ES_advanced_or_tricky_features.md</a:t>
            </a:r>
            <a:r>
              <a:rPr lang="en-US" dirty="0"/>
              <a:t> </a:t>
            </a:r>
          </a:p>
          <a:p>
            <a:r>
              <a:rPr lang="en-US" b="1" dirty="0"/>
              <a:t>TypeScript</a:t>
            </a:r>
            <a:r>
              <a:rPr lang="en-US" dirty="0"/>
              <a:t>, some useful features: </a:t>
            </a:r>
            <a:r>
              <a:rPr lang="en-US" dirty="0">
                <a:hlinkClick r:id="rId3"/>
              </a:rPr>
              <a:t>https://github.com/valju/JS_ES_Features/blob/master/TS_basics/TS_in_a_fullstack_project.md</a:t>
            </a:r>
            <a:endParaRPr lang="en-US" dirty="0"/>
          </a:p>
          <a:p>
            <a:r>
              <a:rPr lang="en-US" dirty="0"/>
              <a:t>More? </a:t>
            </a:r>
          </a:p>
          <a:p>
            <a:pPr lvl="1"/>
            <a:r>
              <a:rPr lang="en-US" dirty="0"/>
              <a:t>Look at the course pages </a:t>
            </a:r>
          </a:p>
          <a:p>
            <a:pPr lvl="1"/>
            <a:r>
              <a:rPr lang="en-US" dirty="0"/>
              <a:t>Search web for TypeScript and ECMAScript </a:t>
            </a:r>
            <a:r>
              <a:rPr lang="en-US" b="1" dirty="0"/>
              <a:t>cheat sheets</a:t>
            </a:r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779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2CE5-EB26-26CC-3F57-4441B90E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1614063-71A7-E2F0-36A4-D943DFD7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E.g. create your own complex datatypes with ‘interface’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ABC41D-9B81-67AE-E284-B78D40E1B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8"/>
            <a:ext cx="11125198" cy="4281334"/>
          </a:xfrm>
        </p:spPr>
        <p:txBody>
          <a:bodyPr>
            <a:normAutofit/>
          </a:bodyPr>
          <a:lstStyle/>
          <a:p>
            <a:r>
              <a:rPr lang="en-US" dirty="0"/>
              <a:t>So that those types can be used in code as types</a:t>
            </a:r>
          </a:p>
          <a:p>
            <a:r>
              <a:rPr lang="en-US" dirty="0"/>
              <a:t>‘interface’ is better option than ‘type’ as interface can be extended to create more subtypes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58D0D-F6E8-D5F8-CBBF-CAF315D1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D4C42-FC03-B025-2E58-F8E1BCBE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48540-6A96-78EB-1A0C-D5FF5A5F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463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7919-7B2C-163D-D8D7-99E6C358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51F12C-2628-E7E5-2D47-30A9A5BA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Take into use new versions of libraries, and their @-type modules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416404-D8A2-E8A8-324D-4B941C70B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773238"/>
            <a:ext cx="11125198" cy="4281334"/>
          </a:xfrm>
        </p:spPr>
        <p:txBody>
          <a:bodyPr>
            <a:normAutofit/>
          </a:bodyPr>
          <a:lstStyle/>
          <a:p>
            <a:r>
              <a:rPr lang="en-US" dirty="0"/>
              <a:t>Then your code that uses and calls the library code will be also valid TypeScript, </a:t>
            </a:r>
          </a:p>
          <a:p>
            <a:r>
              <a:rPr lang="en-US" dirty="0"/>
              <a:t>as the types imported can be used for checking the datatypes compilation time (and in e.g. VS Code source code writing/saving time)</a:t>
            </a:r>
          </a:p>
          <a:p>
            <a:r>
              <a:rPr lang="en-US" dirty="0"/>
              <a:t>Note: Modern </a:t>
            </a:r>
            <a:r>
              <a:rPr lang="en-US" dirty="0" err="1"/>
              <a:t>npm</a:t>
            </a:r>
            <a:r>
              <a:rPr lang="en-US" dirty="0"/>
              <a:t>/NodeJS modules are configured so, that the @-type modules are installed automatically along the module itself, without you even mentioning it.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1E37E-7033-9C16-8068-CECF0764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CFDE2-ECC3-2A7D-B79C-691239AF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B6A31-D63D-31D7-B349-B6FEF786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39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Install the TS versions of libraries, with their type definition modules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Random command example. Though you only install @types for old pre-TypeScript era libraries: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npm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--save express @types/node @types/react @types/react-dom    # needed in prod?</a:t>
            </a:r>
            <a:br>
              <a:rPr lang="en-US" dirty="0">
                <a:latin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npm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--save-dev jest      # installs also @types/jest automatically. Needed in dev</a:t>
            </a:r>
            <a:br>
              <a:rPr lang="en-US" dirty="0">
                <a:latin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--save   vs.   --save-dev ?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hlinkClick r:id="rId2"/>
              </a:rPr>
              <a:t>https://nodejs.org/en/learn/getting-started</a:t>
            </a:r>
            <a:r>
              <a:rPr lang="en-US">
                <a:latin typeface="Consolas" panose="020B0609020204030204" pitchFamily="49" charset="0"/>
                <a:hlinkClick r:id="rId2"/>
              </a:rPr>
              <a:t>/an-introduction-to-the-npm-package-manager</a:t>
            </a:r>
            <a:r>
              <a:rPr lang="en-US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31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Understand compilation-time vs run-time</a:t>
            </a:r>
            <a:endParaRPr lang="fi-FI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DE61D8-A75A-F94B-B57A-46F276C0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4" y="1295074"/>
            <a:ext cx="11125198" cy="4759498"/>
          </a:xfrm>
        </p:spPr>
        <p:txBody>
          <a:bodyPr>
            <a:normAutofit/>
          </a:bodyPr>
          <a:lstStyle/>
          <a:p>
            <a:r>
              <a:rPr lang="en-US" dirty="0"/>
              <a:t>- 1. Compilation time:    </a:t>
            </a:r>
            <a:r>
              <a:rPr lang="en-US" b="1" dirty="0" err="1"/>
              <a:t>tsc</a:t>
            </a:r>
            <a:r>
              <a:rPr lang="en-US" dirty="0"/>
              <a:t> (TypeScript compiler) </a:t>
            </a:r>
            <a:r>
              <a:rPr lang="en-US" b="1" dirty="0"/>
              <a:t>.</a:t>
            </a:r>
            <a:r>
              <a:rPr lang="en-US" b="1" dirty="0" err="1"/>
              <a:t>ts</a:t>
            </a:r>
            <a:r>
              <a:rPr lang="en-US" b="1" dirty="0"/>
              <a:t>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</a:t>
            </a:r>
            <a:r>
              <a:rPr lang="en-US" b="1" dirty="0"/>
              <a:t>.</a:t>
            </a:r>
            <a:r>
              <a:rPr lang="en-US" b="1" dirty="0" err="1"/>
              <a:t>js</a:t>
            </a:r>
            <a:endParaRPr lang="en-US" b="1" dirty="0"/>
          </a:p>
          <a:p>
            <a:r>
              <a:rPr lang="en-US" dirty="0"/>
              <a:t>- 2. Runtime:                run the </a:t>
            </a:r>
            <a:r>
              <a:rPr lang="en-US" b="1" dirty="0"/>
              <a:t>.</a:t>
            </a:r>
            <a:r>
              <a:rPr lang="en-US" b="1" dirty="0" err="1"/>
              <a:t>js</a:t>
            </a:r>
            <a:r>
              <a:rPr lang="en-US" dirty="0"/>
              <a:t>,    e.g. with </a:t>
            </a:r>
            <a:r>
              <a:rPr lang="en-US" b="1" dirty="0"/>
              <a:t>node</a:t>
            </a:r>
            <a:r>
              <a:rPr lang="en-US" dirty="0"/>
              <a:t>, </a:t>
            </a:r>
            <a:r>
              <a:rPr lang="en-US" b="1" dirty="0" err="1"/>
              <a:t>nodemon</a:t>
            </a:r>
            <a:r>
              <a:rPr lang="en-US" dirty="0"/>
              <a:t>, </a:t>
            </a:r>
            <a:r>
              <a:rPr lang="en-US" b="1" dirty="0"/>
              <a:t>pm2</a:t>
            </a:r>
            <a:r>
              <a:rPr lang="en-US" dirty="0"/>
              <a:t>         or so</a:t>
            </a:r>
          </a:p>
          <a:p>
            <a:endParaRPr lang="en-US" dirty="0"/>
          </a:p>
          <a:p>
            <a:r>
              <a:rPr lang="en-US" dirty="0"/>
              <a:t>See also how all TS tools are in </a:t>
            </a:r>
            <a:r>
              <a:rPr lang="en-US" b="1" dirty="0" err="1"/>
              <a:t>devDependencies</a:t>
            </a:r>
            <a:r>
              <a:rPr lang="en-US" dirty="0"/>
              <a:t> in </a:t>
            </a:r>
            <a:r>
              <a:rPr lang="en-US" b="1" dirty="0" err="1"/>
              <a:t>package.json</a:t>
            </a:r>
            <a:r>
              <a:rPr lang="en-US" dirty="0"/>
              <a:t>, for development time steps and processes. Whereas JS tools and modules are in </a:t>
            </a:r>
            <a:r>
              <a:rPr lang="en-US" b="1" dirty="0"/>
              <a:t>dependencies</a:t>
            </a:r>
            <a:r>
              <a:rPr lang="en-US" dirty="0"/>
              <a:t> for the running time / production.</a:t>
            </a:r>
          </a:p>
          <a:p>
            <a:endParaRPr lang="en-US" dirty="0"/>
          </a:p>
          <a:p>
            <a:r>
              <a:rPr lang="en-US" dirty="0"/>
              <a:t>(2. or use the </a:t>
            </a:r>
            <a:r>
              <a:rPr lang="en-US" b="1" dirty="0" err="1"/>
              <a:t>ts</a:t>
            </a:r>
            <a:r>
              <a:rPr lang="en-US" b="1" dirty="0"/>
              <a:t>-node</a:t>
            </a:r>
            <a:r>
              <a:rPr lang="en-US" dirty="0"/>
              <a:t> for combining the compilation and running as a one, bit slower, step)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655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Biome checker that forces to 1. use TS features and 2. to use them correctly</a:t>
            </a:r>
            <a:endParaRPr lang="fi-FI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16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12394-ED83-A1B5-EE59-DD745C6B1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96" y="2040615"/>
            <a:ext cx="1176291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seems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way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biome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Windows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crlf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(Linux &amp; Mac: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crlf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might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rewrite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formatting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enviroment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indentation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line-endings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Second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just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hints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formatting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Third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would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=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those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</a:t>
            </a: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npx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@biomejs/biome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format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--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write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--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max-diagnostics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=200 --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line-ending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crlf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./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src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npx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@biomejs/biome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check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 --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max-diagnostics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=200 --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line-ending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crlf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./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src</a:t>
            </a: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npx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@biomejs/biome 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check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--</a:t>
            </a:r>
            <a:r>
              <a:rPr kumimoji="0" lang="fi-FI" altLang="fi-FI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apply</a:t>
            </a:r>
            <a:r>
              <a:rPr kumimoji="0" lang="fi-FI" altLang="fi-F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--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max-diagnostics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=200 --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line-ending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crlf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./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src</a:t>
            </a:r>
            <a:endParaRPr kumimoji="0" lang="fi-FI" altLang="fi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i-FI" altLang="fi-FI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# 200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here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it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will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only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notice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fix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first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200 </a:t>
            </a:r>
            <a:r>
              <a:rPr kumimoji="0" lang="fi-FI" altLang="fi-FI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probs</a:t>
            </a:r>
            <a:r>
              <a:rPr kumimoji="0" lang="fi-FI" altLang="fi-F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92789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7044C3-CD23-D844-B780-26FABA91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21" y="549276"/>
            <a:ext cx="11658600" cy="649938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biome.json</a:t>
            </a:r>
            <a:r>
              <a:rPr lang="en-US" dirty="0"/>
              <a:t> example configuration files (March 2024)</a:t>
            </a:r>
            <a:endParaRPr lang="fi-FI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44E2-AA76-2742-B2EC-FEC79276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E1EC2-47B8-044B-A09E-6A63B4D80C87}" type="datetime1">
              <a:rPr lang="fi-FI" smtClean="0"/>
              <a:t>5.2.2026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CE607-4137-8840-8FEA-42EAC857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33A96-6C73-0844-B8CB-27C2B5F4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AB7ED-EDE9-4D4B-9A2D-30E18C47C16E}" type="slidenum">
              <a:rPr lang="en-GB" smtClean="0"/>
              <a:t>17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C0B10-DAE4-7D62-2D60-2F4AFA4FDFB5}"/>
              </a:ext>
            </a:extLst>
          </p:cNvPr>
          <p:cNvSpPr txBox="1"/>
          <p:nvPr/>
        </p:nvSpPr>
        <p:spPr>
          <a:xfrm>
            <a:off x="7242211" y="1542863"/>
            <a:ext cx="357796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400" dirty="0">
                <a:latin typeface="Consolas" panose="020B0609020204030204" pitchFamily="49" charset="0"/>
              </a:rPr>
              <a:t>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"</a:t>
            </a:r>
            <a:r>
              <a:rPr lang="fi-FI" sz="1400" dirty="0" err="1">
                <a:latin typeface="Consolas" panose="020B0609020204030204" pitchFamily="49" charset="0"/>
              </a:rPr>
              <a:t>files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ignore</a:t>
            </a:r>
            <a:r>
              <a:rPr lang="fi-FI" sz="1400" dirty="0">
                <a:latin typeface="Consolas" panose="020B0609020204030204" pitchFamily="49" charset="0"/>
              </a:rPr>
              <a:t>": ["</a:t>
            </a:r>
            <a:r>
              <a:rPr lang="fi-FI" sz="1400" dirty="0" err="1">
                <a:latin typeface="Consolas" panose="020B0609020204030204" pitchFamily="49" charset="0"/>
              </a:rPr>
              <a:t>dist</a:t>
            </a:r>
            <a:r>
              <a:rPr lang="fi-FI" sz="1400" dirty="0">
                <a:latin typeface="Consolas" panose="020B0609020204030204" pitchFamily="49" charset="0"/>
              </a:rPr>
              <a:t>/"]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},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"</a:t>
            </a:r>
            <a:r>
              <a:rPr lang="fi-FI" sz="1400" dirty="0" err="1">
                <a:latin typeface="Consolas" panose="020B0609020204030204" pitchFamily="49" charset="0"/>
              </a:rPr>
              <a:t>formatter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indentStyle</a:t>
            </a:r>
            <a:r>
              <a:rPr lang="fi-FI" sz="1400" dirty="0">
                <a:latin typeface="Consolas" panose="020B0609020204030204" pitchFamily="49" charset="0"/>
              </a:rPr>
              <a:t>": "</a:t>
            </a:r>
            <a:r>
              <a:rPr lang="fi-FI" sz="1400" dirty="0" err="1">
                <a:latin typeface="Consolas" panose="020B0609020204030204" pitchFamily="49" charset="0"/>
              </a:rPr>
              <a:t>space</a:t>
            </a:r>
            <a:r>
              <a:rPr lang="fi-FI" sz="1400" dirty="0">
                <a:latin typeface="Consolas" panose="020B0609020204030204" pitchFamily="49" charset="0"/>
              </a:rPr>
              <a:t>"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},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"</a:t>
            </a:r>
            <a:r>
              <a:rPr lang="fi-FI" sz="1400" dirty="0" err="1">
                <a:latin typeface="Consolas" panose="020B0609020204030204" pitchFamily="49" charset="0"/>
              </a:rPr>
              <a:t>javascript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formatter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"</a:t>
            </a:r>
            <a:r>
              <a:rPr lang="fi-FI" sz="1400" dirty="0" err="1">
                <a:latin typeface="Consolas" panose="020B0609020204030204" pitchFamily="49" charset="0"/>
              </a:rPr>
              <a:t>quoteStyle</a:t>
            </a:r>
            <a:r>
              <a:rPr lang="fi-FI" sz="1400" dirty="0">
                <a:latin typeface="Consolas" panose="020B0609020204030204" pitchFamily="49" charset="0"/>
              </a:rPr>
              <a:t>": "single"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},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"</a:t>
            </a:r>
            <a:r>
              <a:rPr lang="fi-FI" sz="1400" dirty="0" err="1">
                <a:latin typeface="Consolas" panose="020B0609020204030204" pitchFamily="49" charset="0"/>
              </a:rPr>
              <a:t>linter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enabled</a:t>
            </a:r>
            <a:r>
              <a:rPr lang="fi-FI" sz="1400" dirty="0">
                <a:latin typeface="Consolas" panose="020B0609020204030204" pitchFamily="49" charset="0"/>
              </a:rPr>
              <a:t>": </a:t>
            </a:r>
            <a:r>
              <a:rPr lang="fi-FI" sz="1400" dirty="0" err="1">
                <a:latin typeface="Consolas" panose="020B0609020204030204" pitchFamily="49" charset="0"/>
              </a:rPr>
              <a:t>true</a:t>
            </a:r>
            <a:r>
              <a:rPr lang="fi-FI" sz="1400" dirty="0">
                <a:latin typeface="Consolas" panose="020B0609020204030204" pitchFamily="49" charset="0"/>
              </a:rPr>
              <a:t>,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rules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"</a:t>
            </a:r>
            <a:r>
              <a:rPr lang="fi-FI" sz="1400" dirty="0" err="1">
                <a:latin typeface="Consolas" panose="020B0609020204030204" pitchFamily="49" charset="0"/>
              </a:rPr>
              <a:t>style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  "</a:t>
            </a:r>
            <a:r>
              <a:rPr lang="fi-FI" sz="1400" dirty="0" err="1">
                <a:latin typeface="Consolas" panose="020B0609020204030204" pitchFamily="49" charset="0"/>
              </a:rPr>
              <a:t>noUselessElse</a:t>
            </a:r>
            <a:r>
              <a:rPr lang="fi-FI" sz="1400" dirty="0">
                <a:latin typeface="Consolas" panose="020B0609020204030204" pitchFamily="49" charset="0"/>
              </a:rPr>
              <a:t>": "</a:t>
            </a:r>
            <a:r>
              <a:rPr lang="fi-FI" sz="1400" dirty="0" err="1">
                <a:latin typeface="Consolas" panose="020B0609020204030204" pitchFamily="49" charset="0"/>
              </a:rPr>
              <a:t>off</a:t>
            </a:r>
            <a:r>
              <a:rPr lang="fi-FI" sz="1400" dirty="0">
                <a:latin typeface="Consolas" panose="020B0609020204030204" pitchFamily="49" charset="0"/>
              </a:rPr>
              <a:t>"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}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}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89089-1AB9-21AF-A22B-BF636AD33BBF}"/>
              </a:ext>
            </a:extLst>
          </p:cNvPr>
          <p:cNvSpPr txBox="1"/>
          <p:nvPr/>
        </p:nvSpPr>
        <p:spPr>
          <a:xfrm>
            <a:off x="754530" y="1542863"/>
            <a:ext cx="456323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400" dirty="0">
                <a:latin typeface="Consolas" panose="020B0609020204030204" pitchFamily="49" charset="0"/>
              </a:rPr>
              <a:t>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"</a:t>
            </a:r>
            <a:r>
              <a:rPr lang="fi-FI" sz="1400" dirty="0" err="1">
                <a:latin typeface="Consolas" panose="020B0609020204030204" pitchFamily="49" charset="0"/>
              </a:rPr>
              <a:t>formatter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indentStyle</a:t>
            </a:r>
            <a:r>
              <a:rPr lang="fi-FI" sz="1400" dirty="0">
                <a:latin typeface="Consolas" panose="020B0609020204030204" pitchFamily="49" charset="0"/>
              </a:rPr>
              <a:t>": "</a:t>
            </a:r>
            <a:r>
              <a:rPr lang="fi-FI" sz="1400" dirty="0" err="1">
                <a:latin typeface="Consolas" panose="020B0609020204030204" pitchFamily="49" charset="0"/>
              </a:rPr>
              <a:t>space</a:t>
            </a:r>
            <a:r>
              <a:rPr lang="fi-FI" sz="1400" dirty="0">
                <a:latin typeface="Consolas" panose="020B0609020204030204" pitchFamily="49" charset="0"/>
              </a:rPr>
              <a:t>"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},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"</a:t>
            </a:r>
            <a:r>
              <a:rPr lang="fi-FI" sz="1400" dirty="0" err="1">
                <a:latin typeface="Consolas" panose="020B0609020204030204" pitchFamily="49" charset="0"/>
              </a:rPr>
              <a:t>linter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enabled</a:t>
            </a:r>
            <a:r>
              <a:rPr lang="fi-FI" sz="1400" dirty="0">
                <a:latin typeface="Consolas" panose="020B0609020204030204" pitchFamily="49" charset="0"/>
              </a:rPr>
              <a:t>": </a:t>
            </a:r>
            <a:r>
              <a:rPr lang="fi-FI" sz="1400" dirty="0" err="1">
                <a:latin typeface="Consolas" panose="020B0609020204030204" pitchFamily="49" charset="0"/>
              </a:rPr>
              <a:t>true</a:t>
            </a:r>
            <a:r>
              <a:rPr lang="fi-FI" sz="1400" dirty="0">
                <a:latin typeface="Consolas" panose="020B0609020204030204" pitchFamily="49" charset="0"/>
              </a:rPr>
              <a:t>,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"</a:t>
            </a:r>
            <a:r>
              <a:rPr lang="fi-FI" sz="1400" dirty="0" err="1">
                <a:latin typeface="Consolas" panose="020B0609020204030204" pitchFamily="49" charset="0"/>
              </a:rPr>
              <a:t>rules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"</a:t>
            </a:r>
            <a:r>
              <a:rPr lang="fi-FI" sz="1400" dirty="0" err="1">
                <a:latin typeface="Consolas" panose="020B0609020204030204" pitchFamily="49" charset="0"/>
              </a:rPr>
              <a:t>correctness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  "</a:t>
            </a:r>
            <a:r>
              <a:rPr lang="fi-FI" sz="1400" dirty="0" err="1">
                <a:latin typeface="Consolas" panose="020B0609020204030204" pitchFamily="49" charset="0"/>
              </a:rPr>
              <a:t>useExhaustiveDependencies</a:t>
            </a:r>
            <a:r>
              <a:rPr lang="fi-FI" sz="1400" dirty="0">
                <a:latin typeface="Consolas" panose="020B0609020204030204" pitchFamily="49" charset="0"/>
              </a:rPr>
              <a:t>": "</a:t>
            </a:r>
            <a:r>
              <a:rPr lang="fi-FI" sz="1400" dirty="0" err="1">
                <a:latin typeface="Consolas" panose="020B0609020204030204" pitchFamily="49" charset="0"/>
              </a:rPr>
              <a:t>off</a:t>
            </a:r>
            <a:r>
              <a:rPr lang="fi-FI" sz="1400" dirty="0">
                <a:latin typeface="Consolas" panose="020B0609020204030204" pitchFamily="49" charset="0"/>
              </a:rPr>
              <a:t>"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},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"</a:t>
            </a:r>
            <a:r>
              <a:rPr lang="fi-FI" sz="1400" dirty="0" err="1">
                <a:latin typeface="Consolas" panose="020B0609020204030204" pitchFamily="49" charset="0"/>
              </a:rPr>
              <a:t>style</a:t>
            </a:r>
            <a:r>
              <a:rPr lang="fi-FI" sz="1400" dirty="0">
                <a:latin typeface="Consolas" panose="020B0609020204030204" pitchFamily="49" charset="0"/>
              </a:rPr>
              <a:t>": {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  "</a:t>
            </a:r>
            <a:r>
              <a:rPr lang="fi-FI" sz="1400" dirty="0" err="1">
                <a:latin typeface="Consolas" panose="020B0609020204030204" pitchFamily="49" charset="0"/>
              </a:rPr>
              <a:t>noUselessElse</a:t>
            </a:r>
            <a:r>
              <a:rPr lang="fi-FI" sz="1400" dirty="0">
                <a:latin typeface="Consolas" panose="020B0609020204030204" pitchFamily="49" charset="0"/>
              </a:rPr>
              <a:t>": "</a:t>
            </a:r>
            <a:r>
              <a:rPr lang="fi-FI" sz="1400" dirty="0" err="1">
                <a:latin typeface="Consolas" panose="020B0609020204030204" pitchFamily="49" charset="0"/>
              </a:rPr>
              <a:t>off</a:t>
            </a:r>
            <a:r>
              <a:rPr lang="fi-FI" sz="1400" dirty="0">
                <a:latin typeface="Consolas" panose="020B0609020204030204" pitchFamily="49" charset="0"/>
              </a:rPr>
              <a:t>"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  }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  }</a:t>
            </a:r>
          </a:p>
          <a:p>
            <a:r>
              <a:rPr lang="fi-FI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54472-3792-1521-2341-9C4110ECAB18}"/>
              </a:ext>
            </a:extLst>
          </p:cNvPr>
          <p:cNvSpPr txBox="1"/>
          <p:nvPr/>
        </p:nvSpPr>
        <p:spPr>
          <a:xfrm>
            <a:off x="754530" y="1206098"/>
            <a:ext cx="3889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800" b="1" dirty="0">
                <a:latin typeface="Consolas" panose="020B0609020204030204" pitchFamily="49" charset="0"/>
              </a:rPr>
              <a:t>A </a:t>
            </a:r>
            <a:r>
              <a:rPr lang="fi-FI" sz="1800" b="1" dirty="0" err="1">
                <a:latin typeface="Consolas" panose="020B0609020204030204" pitchFamily="49" charset="0"/>
              </a:rPr>
              <a:t>React</a:t>
            </a:r>
            <a:r>
              <a:rPr lang="fi-FI" sz="1800" b="1" dirty="0">
                <a:latin typeface="Consolas" panose="020B0609020204030204" pitchFamily="49" charset="0"/>
              </a:rPr>
              <a:t> </a:t>
            </a:r>
            <a:r>
              <a:rPr lang="fi-FI" sz="1800" b="1" dirty="0" err="1">
                <a:latin typeface="Consolas" panose="020B0609020204030204" pitchFamily="49" charset="0"/>
              </a:rPr>
              <a:t>Material</a:t>
            </a:r>
            <a:r>
              <a:rPr lang="fi-FI" sz="1800" b="1" dirty="0">
                <a:latin typeface="Consolas" panose="020B0609020204030204" pitchFamily="49" charset="0"/>
              </a:rPr>
              <a:t> UI </a:t>
            </a:r>
            <a:r>
              <a:rPr lang="fi-FI" b="1" dirty="0" err="1">
                <a:latin typeface="Consolas" panose="020B0609020204030204" pitchFamily="49" charset="0"/>
              </a:rPr>
              <a:t>f</a:t>
            </a:r>
            <a:r>
              <a:rPr lang="fi-FI" sz="1800" b="1" dirty="0" err="1">
                <a:latin typeface="Consolas" panose="020B0609020204030204" pitchFamily="49" charset="0"/>
              </a:rPr>
              <a:t>rontend</a:t>
            </a:r>
            <a:endParaRPr lang="fi-FI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2F26A-C2F2-1822-ADDD-B7859BE2C151}"/>
              </a:ext>
            </a:extLst>
          </p:cNvPr>
          <p:cNvSpPr txBox="1"/>
          <p:nvPr/>
        </p:nvSpPr>
        <p:spPr>
          <a:xfrm>
            <a:off x="7292340" y="1130721"/>
            <a:ext cx="6216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800" b="1" dirty="0">
                <a:latin typeface="Consolas" panose="020B0609020204030204" pitchFamily="49" charset="0"/>
              </a:rPr>
              <a:t>A </a:t>
            </a:r>
            <a:r>
              <a:rPr lang="fi-FI" sz="1800" b="1" dirty="0" err="1">
                <a:latin typeface="Consolas" panose="020B0609020204030204" pitchFamily="49" charset="0"/>
              </a:rPr>
              <a:t>Node</a:t>
            </a:r>
            <a:r>
              <a:rPr lang="fi-FI" sz="1800" b="1" dirty="0">
                <a:latin typeface="Consolas" panose="020B0609020204030204" pitchFamily="49" charset="0"/>
              </a:rPr>
              <a:t>/Express/</a:t>
            </a:r>
            <a:r>
              <a:rPr lang="fi-FI" sz="1800" b="1" dirty="0" err="1">
                <a:latin typeface="Consolas" panose="020B0609020204030204" pitchFamily="49" charset="0"/>
              </a:rPr>
              <a:t>Knex</a:t>
            </a:r>
            <a:r>
              <a:rPr lang="fi-FI" sz="1800" b="1" dirty="0">
                <a:latin typeface="Consolas" panose="020B0609020204030204" pitchFamily="49" charset="0"/>
              </a:rPr>
              <a:t>/</a:t>
            </a:r>
            <a:r>
              <a:rPr lang="fi-FI" sz="1800" b="1" dirty="0" err="1">
                <a:latin typeface="Consolas" panose="020B0609020204030204" pitchFamily="49" charset="0"/>
              </a:rPr>
              <a:t>MariaDB</a:t>
            </a:r>
            <a:r>
              <a:rPr lang="fi-FI" sz="1800" b="1" dirty="0">
                <a:latin typeface="Consolas" panose="020B0609020204030204" pitchFamily="49" charset="0"/>
              </a:rPr>
              <a:t> </a:t>
            </a:r>
            <a:r>
              <a:rPr lang="fi-FI" sz="1800" b="1" dirty="0" err="1">
                <a:latin typeface="Consolas" panose="020B0609020204030204" pitchFamily="49" charset="0"/>
              </a:rPr>
              <a:t>backend</a:t>
            </a:r>
            <a:endParaRPr lang="fi-FI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917385-4E10-01B3-7738-50E550B06244}"/>
              </a:ext>
            </a:extLst>
          </p:cNvPr>
          <p:cNvSpPr txBox="1"/>
          <p:nvPr/>
        </p:nvSpPr>
        <p:spPr>
          <a:xfrm>
            <a:off x="348522" y="5608421"/>
            <a:ext cx="6611078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i-FI" sz="1800" dirty="0">
                <a:latin typeface="+mj-lt"/>
              </a:rPr>
              <a:t>(</a:t>
            </a:r>
            <a:r>
              <a:rPr lang="fi-FI" sz="1800" dirty="0" err="1">
                <a:latin typeface="+mj-lt"/>
              </a:rPr>
              <a:t>Probably</a:t>
            </a:r>
            <a:r>
              <a:rPr lang="fi-FI" sz="1800" dirty="0">
                <a:latin typeface="+mj-lt"/>
              </a:rPr>
              <a:t> </a:t>
            </a:r>
            <a:r>
              <a:rPr lang="fi-FI" sz="1800" dirty="0" err="1">
                <a:latin typeface="+mj-lt"/>
              </a:rPr>
              <a:t>not</a:t>
            </a:r>
            <a:r>
              <a:rPr lang="fi-FI" sz="1800" dirty="0">
                <a:latin typeface="+mj-lt"/>
              </a:rPr>
              <a:t> </a:t>
            </a:r>
            <a:r>
              <a:rPr lang="fi-FI" sz="1800" dirty="0" err="1">
                <a:latin typeface="+mj-lt"/>
              </a:rPr>
              <a:t>perfect</a:t>
            </a:r>
            <a:r>
              <a:rPr lang="fi-FI" sz="1800" dirty="0">
                <a:latin typeface="+mj-lt"/>
              </a:rPr>
              <a:t> </a:t>
            </a:r>
            <a:r>
              <a:rPr lang="fi-FI" sz="1800" dirty="0" err="1">
                <a:latin typeface="+mj-lt"/>
              </a:rPr>
              <a:t>configs</a:t>
            </a:r>
            <a:r>
              <a:rPr lang="fi-FI" sz="1800" dirty="0">
                <a:latin typeface="+mj-lt"/>
              </a:rPr>
              <a:t>, </a:t>
            </a:r>
            <a:r>
              <a:rPr lang="fi-FI" sz="1800" dirty="0" err="1">
                <a:latin typeface="+mj-lt"/>
              </a:rPr>
              <a:t>but</a:t>
            </a:r>
            <a:r>
              <a:rPr lang="fi-FI" sz="1800" dirty="0">
                <a:latin typeface="+mj-lt"/>
              </a:rPr>
              <a:t> </a:t>
            </a:r>
            <a:r>
              <a:rPr lang="fi-FI" sz="1800" dirty="0" err="1">
                <a:latin typeface="+mj-lt"/>
              </a:rPr>
              <a:t>fixed</a:t>
            </a:r>
            <a:r>
              <a:rPr lang="fi-FI" sz="1800" dirty="0">
                <a:latin typeface="+mj-lt"/>
              </a:rPr>
              <a:t> some </a:t>
            </a:r>
            <a:r>
              <a:rPr lang="fi-FI" sz="1800" dirty="0" err="1">
                <a:latin typeface="+mj-lt"/>
              </a:rPr>
              <a:t>needed</a:t>
            </a:r>
            <a:r>
              <a:rPr lang="fi-FI" sz="1800" dirty="0">
                <a:latin typeface="+mj-lt"/>
              </a:rPr>
              <a:t> </a:t>
            </a:r>
            <a:r>
              <a:rPr lang="fi-FI" sz="1800" dirty="0" err="1">
                <a:latin typeface="+mj-lt"/>
              </a:rPr>
              <a:t>issues</a:t>
            </a:r>
            <a:r>
              <a:rPr lang="fi-FI" sz="1800" dirty="0">
                <a:latin typeface="+mj-lt"/>
              </a:rPr>
              <a:t>, and </a:t>
            </a:r>
            <a:r>
              <a:rPr lang="fi-FI" sz="1800" dirty="0" err="1">
                <a:latin typeface="+mj-lt"/>
              </a:rPr>
              <a:t>worked</a:t>
            </a:r>
            <a:r>
              <a:rPr lang="fi-FI" sz="1800" dirty="0">
                <a:latin typeface="+mj-lt"/>
              </a:rPr>
              <a:t> for us. </a:t>
            </a:r>
            <a:r>
              <a:rPr lang="fi-FI" sz="1800" dirty="0" err="1">
                <a:latin typeface="+mj-lt"/>
              </a:rPr>
              <a:t>Consult</a:t>
            </a:r>
            <a:r>
              <a:rPr lang="fi-FI" sz="1800" dirty="0">
                <a:latin typeface="+mj-lt"/>
              </a:rPr>
              <a:t> </a:t>
            </a:r>
            <a:r>
              <a:rPr lang="fi-FI" sz="1800" dirty="0" err="1">
                <a:latin typeface="+mj-lt"/>
              </a:rPr>
              <a:t>biome</a:t>
            </a:r>
            <a:r>
              <a:rPr lang="fi-FI" sz="1800" dirty="0">
                <a:latin typeface="+mj-lt"/>
              </a:rPr>
              <a:t> </a:t>
            </a:r>
            <a:r>
              <a:rPr lang="fi-FI" sz="1800" dirty="0" err="1">
                <a:latin typeface="+mj-lt"/>
              </a:rPr>
              <a:t>documentation</a:t>
            </a:r>
            <a:r>
              <a:rPr lang="fi-FI" sz="1800" dirty="0">
                <a:latin typeface="+mj-lt"/>
              </a:rPr>
              <a:t> for </a:t>
            </a:r>
            <a:r>
              <a:rPr lang="fi-FI" sz="1800" dirty="0" err="1">
                <a:latin typeface="+mj-lt"/>
              </a:rPr>
              <a:t>more</a:t>
            </a:r>
            <a:r>
              <a:rPr lang="fi-FI" sz="1800" dirty="0">
                <a:latin typeface="+mj-lt"/>
              </a:rPr>
              <a:t>)</a:t>
            </a:r>
            <a:endParaRPr lang="fi-FI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159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9C2"/>
      </a:accent1>
      <a:accent2>
        <a:srgbClr val="8BADDC"/>
      </a:accent2>
      <a:accent3>
        <a:srgbClr val="00AACD"/>
      </a:accent3>
      <a:accent4>
        <a:srgbClr val="CAD510"/>
      </a:accent4>
      <a:accent5>
        <a:srgbClr val="99C879"/>
      </a:accent5>
      <a:accent6>
        <a:srgbClr val="FBB900"/>
      </a:accent6>
      <a:hlink>
        <a:srgbClr val="DF006E"/>
      </a:hlink>
      <a:folHlink>
        <a:srgbClr val="888B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aga-Helia-powerpoint-pohja.pptx [Read-Only]" id="{85B69CBC-69E6-4F2B-AC01-A2F0A1F659AC}" vid="{187833F4-E17E-4E19-B6ED-FBF677C847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C55B41993A414DABB8DD07ACBA0814" ma:contentTypeVersion="1" ma:contentTypeDescription="Create a new document." ma:contentTypeScope="" ma:versionID="3ea0c22b5866975a7b271665de4056c5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ef2aa9ed40e72a78c3822fc753b43e87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46C03B-CD3A-4EA0-AAA4-0E00E89645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D4E12E-7268-4B03-A47B-0755D62B5E31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9E4DC25-62AA-44A0-8D5C-DB44892588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693</TotalTime>
  <Words>1238</Words>
  <Application>Microsoft Office PowerPoint</Application>
  <PresentationFormat>Widescreen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Symbol</vt:lpstr>
      <vt:lpstr>Wingdings</vt:lpstr>
      <vt:lpstr>Office Theme</vt:lpstr>
      <vt:lpstr>TypeScript usage explained</vt:lpstr>
      <vt:lpstr>Principles as a picture</vt:lpstr>
      <vt:lpstr>tsc compilation as the image</vt:lpstr>
      <vt:lpstr>Installing TypeScript to your computer</vt:lpstr>
      <vt:lpstr>Starting to turn JavaScript project to TypeScript</vt:lpstr>
      <vt:lpstr>Initialize the (JS or new) project as TS project</vt:lpstr>
      <vt:lpstr>tsconfig.json file:</vt:lpstr>
      <vt:lpstr>tsconfig.json file     (An example from 2024)</vt:lpstr>
      <vt:lpstr>Package.json npm run/build etc scripts changed </vt:lpstr>
      <vt:lpstr>Renaming source files from .js to .ts</vt:lpstr>
      <vt:lpstr>You can use TypeScript and modern ECMAScript</vt:lpstr>
      <vt:lpstr>E.g. create your own complex datatypes with ‘interface’</vt:lpstr>
      <vt:lpstr>Take into use new versions of libraries, and their @-type modules</vt:lpstr>
      <vt:lpstr>Install the TS versions of libraries, with their type definition modules</vt:lpstr>
      <vt:lpstr>Understand compilation-time vs run-time</vt:lpstr>
      <vt:lpstr>Biome checker that forces to 1. use TS features and 2. to use them correctly</vt:lpstr>
      <vt:lpstr>biome.json example configuration files (March 2024)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Välimäki Juhani</dc:creator>
  <cp:lastModifiedBy>Välimäki Juhani</cp:lastModifiedBy>
  <cp:revision>151</cp:revision>
  <cp:lastPrinted>2020-09-28T07:56:54Z</cp:lastPrinted>
  <dcterms:created xsi:type="dcterms:W3CDTF">2022-05-08T17:05:50Z</dcterms:created>
  <dcterms:modified xsi:type="dcterms:W3CDTF">2026-02-05T06:17:50Z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0x01010024C55B41993A414DABB8DD07ACBA0814</vt:lpwstr>
  </property>
</Properties>
</file>